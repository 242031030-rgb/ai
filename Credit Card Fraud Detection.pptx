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My capstone project is about detecting credit card fraud. I will cover the problem, the data, the models I built, and what the results mean for a bank. About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Out of 284,807 transactions, only 492 are fraud, about 0.17 percent. That means a lazy model that says “no fraud” every time is 99.83 percent accurate, yet useless. So accuracy is the wrong yardstick. What a bank needs is to catch fraud while not blocking honest customers, so I judged the models on how much fraud they catch and how many false alarms they 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284,807 transactions covering about two days, with 31 columns: the amount, the time, the fraud label, and 28 anonymised features. No missing values. I removed 1,081 duplicate rows, then split the data 80 percent for training and 20 percent for testing, keeping the same fraud share in both. The test set contains 95 frauds. On the charts: fraud is a tiny sliver of the data, fraud amounts tend to be smaller, and the fraud rate looks higher around hours 2 and 4, though with so few night transactions that pattern is noisy.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I built a simple baseline, Logistic Regression, which is like one scoring checklist. Then I built XGBoost, which is like a committee of 500 small decision trees where each tree fixes the previous one’s mistakes. To keep the comparison fair, the test data stayed locked away until the end, I compared ten settings with cross-validation on the training data, and the alarm threshold was chosen from training data only. I also tried a technique called SMOTE on the baseline, which creates extra synthetic fraud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impact. The baseline catches 83 of the 95 test frauds, but it also flags 1,414 honest transactions, about 17 false alarms for every fraud caught. No bank team could review that. XGBoost catches 72 frauds and raises exactly one false alarm. It does miss 23 of the 95 frauds, about a quarter, and that is the main trade-off. I have not put a dollar figure on the savings because that needs real fraud losses and the cost of reviewing an alert. All numbers are on the held-out test set of 56,746 transactions.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live demo. In the notebook, the last results cell prints how many frauds were caught, how many were missed, and how many false alarms there were. I can run it live, or show the confusion matrices on the right. Next steps: choose the alarm level from real fraud losses, test on future data rather than a random split, and serve the model through a FastAPI endpoint so a payment system could score transactions live. Thank you.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60960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000000"/>
                </a:solidFill>
                <a:latin typeface="Arial" pitchFamily="34" charset="0"/>
                <a:ea typeface="Arial" pitchFamily="34" charset="-122"/>
                <a:cs typeface="Arial"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333500"/>
            <a:ext cx="10566400" cy="4711700"/>
          </a:xfrm>
          <a:prstGeom prst="rect">
            <a:avLst/>
          </a:prstGeom>
          <a:noFill/>
          <a:ln/>
        </p:spPr>
        <p:txBody>
          <a:bodyPr wrap="square" lIns="0" tIns="0" rIns="0" bIns="0" rtlCol="0" anchor="t"/>
          <a:lstStyle>
            <a:lvl1pPr algn="l" indent="0" marL="0">
              <a:lnSpc>
                <a:spcPct val="140000"/>
              </a:lnSpc>
              <a:buNone/>
              <a:defRPr lang="en-US" sz="1600" dirty="0">
                <a:solidFill>
                  <a:srgbClr val="000000"/>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60960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000000"/>
                </a:solidFill>
                <a:latin typeface="Arial" pitchFamily="34" charset="0"/>
                <a:ea typeface="Arial" pitchFamily="34" charset="-122"/>
                <a:cs typeface="Arial"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333500"/>
            <a:ext cx="10566400" cy="4711700"/>
          </a:xfrm>
          <a:prstGeom prst="rect">
            <a:avLst/>
          </a:prstGeom>
          <a:noFill/>
          <a:ln/>
        </p:spPr>
        <p:txBody>
          <a:bodyPr wrap="square" lIns="0" tIns="0" rIns="0" bIns="0" rtlCol="0" anchor="t"/>
          <a:lstStyle>
            <a:lvl1pPr algn="l" indent="0" marL="0">
              <a:lnSpc>
                <a:spcPct val="140000"/>
              </a:lnSpc>
              <a:buNone/>
              <a:defRPr lang="en-US" sz="1600" dirty="0">
                <a:solidFill>
                  <a:srgbClr val="000000"/>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2031492" y="2613660"/>
            <a:ext cx="8129016" cy="609600"/>
          </a:xfrm>
          <a:prstGeom prst="rect">
            <a:avLst/>
          </a:prstGeom>
          <a:noFill/>
          <a:ln/>
        </p:spPr>
        <p:txBody>
          <a:bodyPr wrap="square" lIns="0" tIns="0" rIns="0" bIns="0" rtlCol="0" anchor="t">
            <a:normAutofit/>
          </a:bodyPr>
          <a:lstStyle/>
          <a:p>
            <a:pPr algn="ctr" indent="0" marL="0">
              <a:lnSpc>
                <a:spcPts val="4600"/>
              </a:lnSpc>
              <a:buNone/>
            </a:pPr>
            <a:r>
              <a:rPr lang="en-US" sz="4000" b="1" i="0" dirty="0">
                <a:solidFill>
                  <a:srgbClr val="000000"/>
                </a:solidFill>
                <a:latin typeface="Arial" pitchFamily="34" charset="0"/>
                <a:ea typeface="Arial" pitchFamily="34" charset="-122"/>
                <a:cs typeface="Arial" pitchFamily="34" charset="-120"/>
              </a:rPr>
              <a:t>Credit Card Fraud Detection</a:t>
            </a:r>
            <a:endParaRPr lang="en-US" sz="4000" dirty="0"/>
          </a:p>
        </p:txBody>
      </p:sp>
      <p:sp>
        <p:nvSpPr>
          <p:cNvPr id="3" name="Text 1"/>
          <p:cNvSpPr/>
          <p:nvPr/>
        </p:nvSpPr>
        <p:spPr>
          <a:xfrm>
            <a:off x="3545967" y="3401060"/>
            <a:ext cx="5100066" cy="381000"/>
          </a:xfrm>
          <a:prstGeom prst="rect">
            <a:avLst/>
          </a:prstGeom>
          <a:noFill/>
          <a:ln/>
        </p:spPr>
        <p:txBody>
          <a:bodyPr wrap="square" lIns="0" tIns="0" rIns="0" bIns="0" rtlCol="0" anchor="t">
            <a:normAutofit/>
          </a:bodyPr>
          <a:lstStyle/>
          <a:p>
            <a:pPr algn="ctr" indent="0" marL="0">
              <a:lnSpc>
                <a:spcPts val="2800"/>
              </a:lnSpc>
              <a:buNone/>
            </a:pPr>
            <a:r>
              <a:rPr lang="en-US" sz="2000" dirty="0">
                <a:solidFill>
                  <a:srgbClr val="000000"/>
                </a:solidFill>
                <a:latin typeface="Arial" pitchFamily="34" charset="0"/>
                <a:ea typeface="Arial" pitchFamily="34" charset="-122"/>
                <a:cs typeface="Arial" pitchFamily="34" charset="-120"/>
              </a:rPr>
              <a:t>Machine Learning Capstone Project 2</a:t>
            </a:r>
            <a:endParaRPr lang="en-US" sz="2000" dirty="0"/>
          </a:p>
        </p:txBody>
      </p:sp>
      <p:sp>
        <p:nvSpPr>
          <p:cNvPr id="4" name="Text 2"/>
          <p:cNvSpPr/>
          <p:nvPr/>
        </p:nvSpPr>
        <p:spPr>
          <a:xfrm>
            <a:off x="4747459" y="3959860"/>
            <a:ext cx="2697004" cy="30988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000000"/>
                </a:solidFill>
                <a:latin typeface="Arial" pitchFamily="34" charset="0"/>
                <a:ea typeface="Arial" pitchFamily="34" charset="-122"/>
                <a:cs typeface="Arial" pitchFamily="34" charset="-120"/>
              </a:rPr>
              <a:t>Mozammel Hoque Sagor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00000"/>
                </a:solidFill>
                <a:latin typeface="Arial" pitchFamily="34" charset="0"/>
                <a:ea typeface="Arial" pitchFamily="34" charset="-122"/>
                <a:cs typeface="Arial" pitchFamily="34" charset="-120"/>
              </a:rPr>
              <a:t>1. The Problem</a:t>
            </a:r>
            <a:endParaRPr lang="en-US" sz="3000" dirty="0"/>
          </a:p>
        </p:txBody>
      </p:sp>
      <p:sp>
        <p:nvSpPr>
          <p:cNvPr id="3" name="Text 1"/>
          <p:cNvSpPr/>
          <p:nvPr/>
        </p:nvSpPr>
        <p:spPr>
          <a:xfrm>
            <a:off x="854710" y="1333500"/>
            <a:ext cx="10833862" cy="1651000"/>
          </a:xfrm>
          <a:prstGeom prst="rect">
            <a:avLst/>
          </a:prstGeom>
          <a:noFill/>
          <a:ln/>
        </p:spPr>
        <p:txBody>
          <a:bodyPr wrap="square" lIns="0" tIns="0" rIns="0" bIns="0" rtlCol="0" anchor="t">
            <a:normAutofit/>
          </a:bodyPr>
          <a:lstStyle/>
          <a:p>
            <a:pPr algn="l" marL="212090" indent="-212090">
              <a:lnSpc>
                <a:spcPts val="3200"/>
              </a:lnSpc>
              <a:buSzPct val="100000"/>
              <a:buChar char="•"/>
            </a:pPr>
            <a:r>
              <a:rPr lang="en-US" sz="2000" dirty="0">
                <a:solidFill>
                  <a:srgbClr val="000000"/>
                </a:solidFill>
                <a:latin typeface="Arial" pitchFamily="34" charset="0"/>
                <a:ea typeface="Arial" pitchFamily="34" charset="-122"/>
                <a:cs typeface="Arial" pitchFamily="34" charset="-120"/>
              </a:rPr>
              <a:t>Fraud is rare: 492 of 284,807 transactions (0.17%)</a:t>
            </a:r>
            <a:endParaRPr lang="en-US" sz="2000" dirty="0"/>
          </a:p>
          <a:p>
            <a:pPr algn="l" marL="212090" indent="-212090">
              <a:lnSpc>
                <a:spcPts val="3200"/>
              </a:lnSpc>
              <a:buSzPct val="100000"/>
              <a:buChar char="•"/>
            </a:pPr>
            <a:r>
              <a:rPr lang="en-US" sz="2000" dirty="0">
                <a:solidFill>
                  <a:srgbClr val="000000"/>
                </a:solidFill>
                <a:latin typeface="Arial" pitchFamily="34" charset="0"/>
                <a:ea typeface="Arial" pitchFamily="34" charset="-122"/>
                <a:cs typeface="Arial" pitchFamily="34" charset="-120"/>
              </a:rPr>
              <a:t>A model that never flags anything is 99.83% accurate, but catches no fraud</a:t>
            </a:r>
            <a:endParaRPr lang="en-US" sz="2000" dirty="0"/>
          </a:p>
          <a:p>
            <a:pPr algn="l" marL="212090" indent="-212090">
              <a:lnSpc>
                <a:spcPts val="3200"/>
              </a:lnSpc>
              <a:buSzPct val="100000"/>
              <a:buChar char="•"/>
            </a:pPr>
            <a:r>
              <a:rPr lang="en-US" sz="2000" dirty="0">
                <a:solidFill>
                  <a:srgbClr val="000000"/>
                </a:solidFill>
                <a:latin typeface="Arial" pitchFamily="34" charset="0"/>
                <a:ea typeface="Arial" pitchFamily="34" charset="-122"/>
                <a:cs typeface="Arial" pitchFamily="34" charset="-120"/>
              </a:rPr>
              <a:t>So accuracy is the wrong measure here</a:t>
            </a:r>
            <a:endParaRPr lang="en-US" sz="2000" dirty="0"/>
          </a:p>
          <a:p>
            <a:pPr algn="l" marL="212090" indent="-212090">
              <a:lnSpc>
                <a:spcPts val="3200"/>
              </a:lnSpc>
              <a:buSzPct val="100000"/>
              <a:buChar char="•"/>
            </a:pPr>
            <a:r>
              <a:rPr lang="en-US" sz="2000" dirty="0">
                <a:solidFill>
                  <a:srgbClr val="000000"/>
                </a:solidFill>
                <a:latin typeface="Arial" pitchFamily="34" charset="0"/>
                <a:ea typeface="Arial" pitchFamily="34" charset="-122"/>
                <a:cs typeface="Arial" pitchFamily="34" charset="-120"/>
              </a:rPr>
              <a:t>Goal: catch fraud without blocking honest customers’ cards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00000"/>
                </a:solidFill>
                <a:latin typeface="Arial" pitchFamily="34" charset="0"/>
                <a:ea typeface="Arial" pitchFamily="34" charset="-122"/>
                <a:cs typeface="Arial" pitchFamily="34" charset="-120"/>
              </a:rPr>
              <a:t>2. The Data</a:t>
            </a:r>
            <a:endParaRPr lang="en-US" sz="3000" dirty="0"/>
          </a:p>
        </p:txBody>
      </p:sp>
      <p:sp>
        <p:nvSpPr>
          <p:cNvPr id="3" name="Text 1"/>
          <p:cNvSpPr/>
          <p:nvPr/>
        </p:nvSpPr>
        <p:spPr>
          <a:xfrm>
            <a:off x="882396" y="1231900"/>
            <a:ext cx="10806176" cy="1320800"/>
          </a:xfrm>
          <a:prstGeom prst="rect">
            <a:avLst/>
          </a:prstGeom>
          <a:noFill/>
          <a:ln/>
        </p:spPr>
        <p:txBody>
          <a:bodyPr wrap="square" lIns="0" tIns="0" rIns="0" bIns="0" rtlCol="0" anchor="t">
            <a:normAutofit/>
          </a:bodyPr>
          <a:lstStyle/>
          <a:p>
            <a:pPr algn="l" marL="184404" indent="-184404">
              <a:lnSpc>
                <a:spcPts val="2550"/>
              </a:lnSpc>
              <a:buSzPct val="100000"/>
              <a:buChar char="•"/>
            </a:pPr>
            <a:r>
              <a:rPr lang="en-US" sz="1700" dirty="0">
                <a:solidFill>
                  <a:srgbClr val="000000"/>
                </a:solidFill>
                <a:latin typeface="Arial" pitchFamily="34" charset="0"/>
                <a:ea typeface="Arial" pitchFamily="34" charset="-122"/>
                <a:cs typeface="Arial" pitchFamily="34" charset="-120"/>
              </a:rPr>
              <a:t>Kaggle Credit Card Fraud dataset: 284,807 transactions over two days</a:t>
            </a:r>
            <a:endParaRPr lang="en-US" sz="1700" dirty="0"/>
          </a:p>
          <a:p>
            <a:pPr algn="l" marL="184404" indent="-184404">
              <a:lnSpc>
                <a:spcPts val="2550"/>
              </a:lnSpc>
              <a:buSzPct val="100000"/>
              <a:buChar char="•"/>
            </a:pPr>
            <a:r>
              <a:rPr lang="en-US" sz="1700" dirty="0">
                <a:solidFill>
                  <a:srgbClr val="000000"/>
                </a:solidFill>
                <a:latin typeface="Arial" pitchFamily="34" charset="0"/>
                <a:ea typeface="Arial" pitchFamily="34" charset="-122"/>
                <a:cs typeface="Arial" pitchFamily="34" charset="-120"/>
              </a:rPr>
              <a:t>31 columns: time, amount, fraud label and 28 anonymised features</a:t>
            </a:r>
            <a:endParaRPr lang="en-US" sz="1700" dirty="0"/>
          </a:p>
          <a:p>
            <a:pPr algn="l" marL="184404" indent="-184404">
              <a:lnSpc>
                <a:spcPts val="2550"/>
              </a:lnSpc>
              <a:buSzPct val="100000"/>
              <a:buChar char="•"/>
            </a:pPr>
            <a:r>
              <a:rPr lang="en-US" sz="1700" dirty="0">
                <a:solidFill>
                  <a:srgbClr val="000000"/>
                </a:solidFill>
                <a:latin typeface="Arial" pitchFamily="34" charset="0"/>
                <a:ea typeface="Arial" pitchFamily="34" charset="-122"/>
                <a:cs typeface="Arial" pitchFamily="34" charset="-120"/>
              </a:rPr>
              <a:t>No missing values; 1,081 duplicate rows removed</a:t>
            </a:r>
            <a:endParaRPr lang="en-US" sz="1700" dirty="0"/>
          </a:p>
          <a:p>
            <a:pPr algn="l" marL="184404" indent="-184404">
              <a:lnSpc>
                <a:spcPts val="2550"/>
              </a:lnSpc>
              <a:buSzPct val="100000"/>
              <a:buChar char="•"/>
            </a:pPr>
            <a:r>
              <a:rPr lang="en-US" sz="1700" dirty="0">
                <a:solidFill>
                  <a:srgbClr val="000000"/>
                </a:solidFill>
                <a:latin typeface="Arial" pitchFamily="34" charset="0"/>
                <a:ea typeface="Arial" pitchFamily="34" charset="-122"/>
                <a:cs typeface="Arial" pitchFamily="34" charset="-120"/>
              </a:rPr>
              <a:t>80/20 train/test split; the test set has 95 frauds</a:t>
            </a:r>
            <a:endParaRPr lang="en-US" sz="1700" dirty="0"/>
          </a:p>
        </p:txBody>
      </p:sp>
      <p:pic>
        <p:nvPicPr>
          <p:cNvPr id="4" name="Image 0" descr="Three charts: class balance on a log scale, transaction amount by class, and fraud rate by hour of day">    </p:cNvPr>
          <p:cNvPicPr>
            <a:picLocks noChangeAspect="1"/>
          </p:cNvPicPr>
          <p:nvPr/>
        </p:nvPicPr>
        <p:blipFill>
          <a:blip r:embed="rId1"/>
          <a:srcRect l="0" r="0" t="-32" b="-32"/>
          <a:stretch/>
        </p:blipFill>
        <p:spPr>
          <a:xfrm>
            <a:off x="812800" y="2730500"/>
            <a:ext cx="7620000" cy="20891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00000"/>
                </a:solidFill>
                <a:latin typeface="Arial" pitchFamily="34" charset="0"/>
                <a:ea typeface="Arial" pitchFamily="34" charset="-122"/>
                <a:cs typeface="Arial" pitchFamily="34" charset="-120"/>
              </a:rPr>
              <a:t>3. The Solution</a:t>
            </a:r>
            <a:endParaRPr lang="en-US" sz="3000" dirty="0"/>
          </a:p>
        </p:txBody>
      </p:sp>
      <p:sp>
        <p:nvSpPr>
          <p:cNvPr id="3" name="Text 1"/>
          <p:cNvSpPr/>
          <p:nvPr/>
        </p:nvSpPr>
        <p:spPr>
          <a:xfrm>
            <a:off x="868172" y="1333500"/>
            <a:ext cx="10820400" cy="2643505"/>
          </a:xfrm>
          <a:prstGeom prst="rect">
            <a:avLst/>
          </a:prstGeom>
          <a:noFill/>
          <a:ln/>
        </p:spPr>
        <p:txBody>
          <a:bodyPr wrap="square" lIns="0" tIns="0" rIns="0" bIns="0" rtlCol="0" anchor="t">
            <a:normAutofit/>
          </a:bodyPr>
          <a:lstStyle/>
          <a:p>
            <a:pPr algn="l" marL="198628" indent="-198628">
              <a:lnSpc>
                <a:spcPts val="2945"/>
              </a:lnSpc>
              <a:buSzPct val="100000"/>
              <a:buChar char="•"/>
            </a:pPr>
            <a:r>
              <a:rPr lang="en-US" sz="1900" dirty="0">
                <a:solidFill>
                  <a:srgbClr val="000000"/>
                </a:solidFill>
                <a:latin typeface="Arial" pitchFamily="34" charset="0"/>
                <a:ea typeface="Arial" pitchFamily="34" charset="-122"/>
                <a:cs typeface="Arial" pitchFamily="34" charset="-120"/>
              </a:rPr>
              <a:t>Baseline: Logistic Regression, one simple scoring rule (tried with class weights and with SMOTE)</a:t>
            </a:r>
            <a:endParaRPr lang="en-US" sz="1900" dirty="0"/>
          </a:p>
          <a:p>
            <a:pPr algn="l" marL="198628" indent="-198628">
              <a:lnSpc>
                <a:spcPts val="2945"/>
              </a:lnSpc>
              <a:buSzPct val="100000"/>
              <a:buChar char="•"/>
            </a:pPr>
            <a:r>
              <a:rPr lang="en-US" sz="1900" dirty="0">
                <a:solidFill>
                  <a:srgbClr val="000000"/>
                </a:solidFill>
                <a:latin typeface="Arial" pitchFamily="34" charset="0"/>
                <a:ea typeface="Arial" pitchFamily="34" charset="-122"/>
                <a:cs typeface="Arial" pitchFamily="34" charset="-120"/>
              </a:rPr>
              <a:t>Final model: XGBoost, 500 small decision trees, each one correcting the mistakes of the one before</a:t>
            </a:r>
            <a:endParaRPr lang="en-US" sz="1900" dirty="0"/>
          </a:p>
          <a:p>
            <a:pPr algn="l" marL="198628" indent="-198628">
              <a:lnSpc>
                <a:spcPts val="2945"/>
              </a:lnSpc>
              <a:buSzPct val="100000"/>
              <a:buChar char="•"/>
            </a:pPr>
            <a:r>
              <a:rPr lang="en-US" sz="1900" dirty="0">
                <a:solidFill>
                  <a:srgbClr val="000000"/>
                </a:solidFill>
                <a:latin typeface="Arial" pitchFamily="34" charset="0"/>
                <a:ea typeface="Arial" pitchFamily="34" charset="-122"/>
                <a:cs typeface="Arial" pitchFamily="34" charset="-120"/>
              </a:rPr>
              <a:t>Tuned by trying 10 settings with 3-fold cross-validation</a:t>
            </a:r>
            <a:endParaRPr lang="en-US" sz="1900" dirty="0"/>
          </a:p>
          <a:p>
            <a:pPr algn="l" marL="198628" indent="-198628">
              <a:lnSpc>
                <a:spcPts val="2945"/>
              </a:lnSpc>
              <a:buSzPct val="100000"/>
              <a:buChar char="•"/>
            </a:pPr>
            <a:r>
              <a:rPr lang="en-US" sz="1900" dirty="0">
                <a:solidFill>
                  <a:srgbClr val="000000"/>
                </a:solidFill>
                <a:latin typeface="Arial" pitchFamily="34" charset="0"/>
                <a:ea typeface="Arial" pitchFamily="34" charset="-122"/>
                <a:cs typeface="Arial" pitchFamily="34" charset="-120"/>
              </a:rPr>
              <a:t>Alarm threshold (0.84) chosen from training data only</a:t>
            </a:r>
            <a:endParaRPr lang="en-US" sz="1900" dirty="0"/>
          </a:p>
          <a:p>
            <a:pPr algn="l" marL="198628" indent="-198628">
              <a:lnSpc>
                <a:spcPts val="2945"/>
              </a:lnSpc>
              <a:buSzPct val="100000"/>
              <a:buChar char="•"/>
            </a:pPr>
            <a:r>
              <a:rPr lang="en-US" sz="1900" dirty="0">
                <a:solidFill>
                  <a:srgbClr val="000000"/>
                </a:solidFill>
                <a:latin typeface="Arial" pitchFamily="34" charset="0"/>
                <a:ea typeface="Arial" pitchFamily="34" charset="-122"/>
                <a:cs typeface="Arial" pitchFamily="34" charset="-120"/>
              </a:rPr>
              <a:t>Test set kept for the final evaluation</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00000"/>
                </a:solidFill>
                <a:latin typeface="Arial" pitchFamily="34" charset="0"/>
                <a:ea typeface="Arial" pitchFamily="34" charset="-122"/>
                <a:cs typeface="Arial" pitchFamily="34" charset="-120"/>
              </a:rPr>
              <a:t>4. Business Impact</a:t>
            </a:r>
            <a:endParaRPr lang="en-US" sz="3000" dirty="0"/>
          </a:p>
        </p:txBody>
      </p:sp>
      <p:sp>
        <p:nvSpPr>
          <p:cNvPr id="3" name="Shape 1"/>
          <p:cNvSpPr/>
          <p:nvPr/>
        </p:nvSpPr>
        <p:spPr>
          <a:xfrm>
            <a:off x="11376025" y="1282700"/>
            <a:ext cx="0" cy="1869440"/>
          </a:xfrm>
          <a:prstGeom prst="line">
            <a:avLst/>
          </a:prstGeom>
          <a:noFill/>
          <a:ln w="6350">
            <a:solidFill>
              <a:srgbClr val="888888"/>
            </a:solidFill>
            <a:prstDash val="solid"/>
          </a:ln>
        </p:spPr>
      </p:sp>
      <p:sp>
        <p:nvSpPr>
          <p:cNvPr id="4" name="Shape 2"/>
          <p:cNvSpPr/>
          <p:nvPr/>
        </p:nvSpPr>
        <p:spPr>
          <a:xfrm>
            <a:off x="812800" y="3148965"/>
            <a:ext cx="10566400" cy="0"/>
          </a:xfrm>
          <a:prstGeom prst="line">
            <a:avLst/>
          </a:prstGeom>
          <a:noFill/>
          <a:ln w="6350">
            <a:solidFill>
              <a:srgbClr val="888888"/>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292860"/>
          <a:ext cx="10551160" cy="1854200"/>
        </p:xfrm>
        <a:graphic>
          <a:graphicData uri="http://schemas.openxmlformats.org/drawingml/2006/table">
            <a:tbl>
              <a:tblPr/>
              <a:tblGrid>
                <a:gridCol w="5275580"/>
                <a:gridCol w="2637790"/>
                <a:gridCol w="2637790"/>
              </a:tblGrid>
              <a:tr h="463550">
                <a:tc>
                  <a:txBody>
                    <a:bodyPr/>
                    <a:lstStyle/>
                    <a:p>
                      <a:pPr indent="0" marL="0">
                        <a:lnSpc>
                          <a:spcPts val="2380"/>
                        </a:lnSpc>
                        <a:buNone/>
                      </a:pPr>
                      <a:r>
                        <a:rPr lang="en-US" sz="1700" b="1" dirty="0">
                          <a:solidFill>
                            <a:srgbClr val="000000"/>
                          </a:solidFill>
                          <a:latin typeface="Arial" pitchFamily="34" charset="0"/>
                          <a:ea typeface="Arial" pitchFamily="34" charset="-122"/>
                          <a:cs typeface="Arial" pitchFamily="34" charset="-120"/>
                        </a:rPr>
                        <a:t>Model</a:t>
                      </a:r>
                      <a:endParaRPr lang="en-US" sz="1700" dirty="0">
                        <a:latin typeface="Arial" charset="0"/>
                        <a:ea typeface="Arial" charset="0"/>
                        <a:cs typeface="Arial"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2380"/>
                        </a:lnSpc>
                        <a:buNone/>
                      </a:pPr>
                      <a:r>
                        <a:rPr lang="en-US" sz="1700" b="1" dirty="0">
                          <a:solidFill>
                            <a:srgbClr val="000000"/>
                          </a:solidFill>
                          <a:latin typeface="Arial" pitchFamily="34" charset="0"/>
                          <a:ea typeface="Arial" pitchFamily="34" charset="-122"/>
                          <a:cs typeface="Arial" pitchFamily="34" charset="-120"/>
                        </a:rPr>
                        <a:t>Frauds caught (of 95)</a:t>
                      </a:r>
                      <a:endParaRPr lang="en-US" sz="1700" dirty="0">
                        <a:latin typeface="Arial" charset="0"/>
                        <a:ea typeface="Arial" charset="0"/>
                        <a:cs typeface="Arial" charset="0"/>
                      </a:endParaRPr>
                    </a:p>
                  </a:txBody>
                  <a:tcPr marL="75565" marR="75565" marT="75565" marB="7556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2380"/>
                        </a:lnSpc>
                        <a:buNone/>
                      </a:pPr>
                      <a:r>
                        <a:rPr lang="en-US" sz="1700" b="1" dirty="0">
                          <a:solidFill>
                            <a:srgbClr val="000000"/>
                          </a:solidFill>
                          <a:latin typeface="Arial" pitchFamily="34" charset="0"/>
                          <a:ea typeface="Arial" pitchFamily="34" charset="-122"/>
                          <a:cs typeface="Arial" pitchFamily="34" charset="-120"/>
                        </a:rPr>
                        <a:t>False alarms</a:t>
                      </a:r>
                      <a:endParaRPr lang="en-US" sz="1700" dirty="0">
                        <a:latin typeface="Arial" charset="0"/>
                        <a:ea typeface="Arial" charset="0"/>
                        <a:cs typeface="Arial" charset="0"/>
                      </a:endParaRPr>
                    </a:p>
                  </a:txBody>
                  <a:tcPr marL="75565" marR="75565" marT="75565" marB="7556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463550">
                <a:tc>
                  <a:txBody>
                    <a:bodyPr/>
                    <a:lstStyle/>
                    <a:p>
                      <a:pPr indent="0" marL="0">
                        <a:lnSpc>
                          <a:spcPts val="2380"/>
                        </a:lnSpc>
                        <a:buNone/>
                      </a:pPr>
                      <a:r>
                        <a:rPr lang="en-US" sz="1700" dirty="0">
                          <a:solidFill>
                            <a:srgbClr val="000000"/>
                          </a:solidFill>
                          <a:latin typeface="Arial" pitchFamily="34" charset="0"/>
                          <a:ea typeface="Arial" pitchFamily="34" charset="-122"/>
                          <a:cs typeface="Arial" pitchFamily="34" charset="-120"/>
                        </a:rPr>
                        <a:t>Logistic Regression (class weights)</a:t>
                      </a:r>
                      <a:endParaRPr lang="en-US" sz="1700" dirty="0">
                        <a:latin typeface="Arial" charset="0"/>
                        <a:ea typeface="Arial" charset="0"/>
                        <a:cs typeface="Arial"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380"/>
                        </a:lnSpc>
                        <a:buNone/>
                      </a:pPr>
                      <a:r>
                        <a:rPr lang="en-US" sz="1700" dirty="0">
                          <a:solidFill>
                            <a:srgbClr val="000000"/>
                          </a:solidFill>
                          <a:latin typeface="Arial" pitchFamily="34" charset="0"/>
                          <a:ea typeface="Arial" pitchFamily="34" charset="-122"/>
                          <a:cs typeface="Arial" pitchFamily="34" charset="-120"/>
                        </a:rPr>
                        <a:t>83</a:t>
                      </a:r>
                      <a:endParaRPr lang="en-US" sz="1700" dirty="0">
                        <a:latin typeface="Arial" charset="0"/>
                        <a:ea typeface="Arial" charset="0"/>
                        <a:cs typeface="Arial"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380"/>
                        </a:lnSpc>
                        <a:buNone/>
                      </a:pPr>
                      <a:r>
                        <a:rPr lang="en-US" sz="1700" dirty="0">
                          <a:solidFill>
                            <a:srgbClr val="000000"/>
                          </a:solidFill>
                          <a:latin typeface="Arial" pitchFamily="34" charset="0"/>
                          <a:ea typeface="Arial" pitchFamily="34" charset="-122"/>
                          <a:cs typeface="Arial" pitchFamily="34" charset="-120"/>
                        </a:rPr>
                        <a:t>1,414</a:t>
                      </a:r>
                      <a:endParaRPr lang="en-US" sz="1700" dirty="0">
                        <a:latin typeface="Arial" charset="0"/>
                        <a:ea typeface="Arial" charset="0"/>
                        <a:cs typeface="Arial"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63550">
                <a:tc>
                  <a:txBody>
                    <a:bodyPr/>
                    <a:lstStyle/>
                    <a:p>
                      <a:pPr indent="0" marL="0">
                        <a:lnSpc>
                          <a:spcPts val="2380"/>
                        </a:lnSpc>
                        <a:buNone/>
                      </a:pPr>
                      <a:r>
                        <a:rPr lang="en-US" sz="1700" dirty="0">
                          <a:solidFill>
                            <a:srgbClr val="000000"/>
                          </a:solidFill>
                          <a:latin typeface="Arial" pitchFamily="34" charset="0"/>
                          <a:ea typeface="Arial" pitchFamily="34" charset="-122"/>
                          <a:cs typeface="Arial" pitchFamily="34" charset="-120"/>
                        </a:rPr>
                        <a:t>Logistic Regression (SMOTE)</a:t>
                      </a:r>
                      <a:endParaRPr lang="en-US" sz="1700" dirty="0">
                        <a:latin typeface="Arial" charset="0"/>
                        <a:ea typeface="Arial" charset="0"/>
                        <a:cs typeface="Arial"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380"/>
                        </a:lnSpc>
                        <a:buNone/>
                      </a:pPr>
                      <a:r>
                        <a:rPr lang="en-US" sz="1700" dirty="0">
                          <a:solidFill>
                            <a:srgbClr val="000000"/>
                          </a:solidFill>
                          <a:latin typeface="Arial" pitchFamily="34" charset="0"/>
                          <a:ea typeface="Arial" pitchFamily="34" charset="-122"/>
                          <a:cs typeface="Arial" pitchFamily="34" charset="-120"/>
                        </a:rPr>
                        <a:t>83</a:t>
                      </a:r>
                      <a:endParaRPr lang="en-US" sz="1700" dirty="0">
                        <a:latin typeface="Arial" charset="0"/>
                        <a:ea typeface="Arial" charset="0"/>
                        <a:cs typeface="Arial"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380"/>
                        </a:lnSpc>
                        <a:buNone/>
                      </a:pPr>
                      <a:r>
                        <a:rPr lang="en-US" sz="1700" dirty="0">
                          <a:solidFill>
                            <a:srgbClr val="000000"/>
                          </a:solidFill>
                          <a:latin typeface="Arial" pitchFamily="34" charset="0"/>
                          <a:ea typeface="Arial" pitchFamily="34" charset="-122"/>
                          <a:cs typeface="Arial" pitchFamily="34" charset="-120"/>
                        </a:rPr>
                        <a:t>1,482</a:t>
                      </a:r>
                      <a:endParaRPr lang="en-US" sz="1700" dirty="0">
                        <a:latin typeface="Arial" charset="0"/>
                        <a:ea typeface="Arial" charset="0"/>
                        <a:cs typeface="Arial"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63550">
                <a:tc>
                  <a:txBody>
                    <a:bodyPr/>
                    <a:lstStyle/>
                    <a:p>
                      <a:pPr indent="0" marL="0">
                        <a:lnSpc>
                          <a:spcPts val="2380"/>
                        </a:lnSpc>
                        <a:buNone/>
                      </a:pPr>
                      <a:r>
                        <a:rPr lang="en-US" sz="1700" dirty="0">
                          <a:solidFill>
                            <a:srgbClr val="000000"/>
                          </a:solidFill>
                          <a:latin typeface="Arial" pitchFamily="34" charset="0"/>
                          <a:ea typeface="Arial" pitchFamily="34" charset="-122"/>
                          <a:cs typeface="Arial" pitchFamily="34" charset="-120"/>
                        </a:rPr>
                        <a:t>XGBoost (final)</a:t>
                      </a:r>
                      <a:endParaRPr lang="en-US" sz="1700" dirty="0">
                        <a:latin typeface="Arial" charset="0"/>
                        <a:ea typeface="Arial" charset="0"/>
                        <a:cs typeface="Arial"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380"/>
                        </a:lnSpc>
                        <a:buNone/>
                      </a:pPr>
                      <a:r>
                        <a:rPr lang="en-US" sz="1700" dirty="0">
                          <a:solidFill>
                            <a:srgbClr val="000000"/>
                          </a:solidFill>
                          <a:latin typeface="Arial" pitchFamily="34" charset="0"/>
                          <a:ea typeface="Arial" pitchFamily="34" charset="-122"/>
                          <a:cs typeface="Arial" pitchFamily="34" charset="-120"/>
                        </a:rPr>
                        <a:t>72</a:t>
                      </a:r>
                      <a:endParaRPr lang="en-US" sz="1700" dirty="0">
                        <a:latin typeface="Arial" charset="0"/>
                        <a:ea typeface="Arial" charset="0"/>
                        <a:cs typeface="Arial"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380"/>
                        </a:lnSpc>
                        <a:buNone/>
                      </a:pPr>
                      <a:r>
                        <a:rPr lang="en-US" sz="1700" dirty="0">
                          <a:solidFill>
                            <a:srgbClr val="000000"/>
                          </a:solidFill>
                          <a:latin typeface="Arial" pitchFamily="34" charset="0"/>
                          <a:ea typeface="Arial" pitchFamily="34" charset="-122"/>
                          <a:cs typeface="Arial" pitchFamily="34" charset="-120"/>
                        </a:rPr>
                        <a:t>1</a:t>
                      </a:r>
                      <a:endParaRPr lang="en-US" sz="1700" dirty="0">
                        <a:latin typeface="Arial" charset="0"/>
                        <a:ea typeface="Arial" charset="0"/>
                        <a:cs typeface="Arial"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82396" y="3406139"/>
            <a:ext cx="10806176" cy="1320800"/>
          </a:xfrm>
          <a:prstGeom prst="rect">
            <a:avLst/>
          </a:prstGeom>
          <a:noFill/>
          <a:ln/>
        </p:spPr>
        <p:txBody>
          <a:bodyPr wrap="square" lIns="0" tIns="0" rIns="0" bIns="0" rtlCol="0" anchor="t">
            <a:normAutofit/>
          </a:bodyPr>
          <a:lstStyle/>
          <a:p>
            <a:pPr algn="l" marL="184404" indent="-184404">
              <a:lnSpc>
                <a:spcPts val="2550"/>
              </a:lnSpc>
              <a:buSzPct val="100000"/>
              <a:buChar char="•"/>
            </a:pPr>
            <a:r>
              <a:rPr lang="en-US" sz="1700" dirty="0">
                <a:solidFill>
                  <a:srgbClr val="000000"/>
                </a:solidFill>
                <a:latin typeface="Arial" pitchFamily="34" charset="0"/>
                <a:ea typeface="Arial" pitchFamily="34" charset="-122"/>
                <a:cs typeface="Arial" pitchFamily="34" charset="-120"/>
              </a:rPr>
              <a:t>XGBoost: precision 0.986, recall 0.758, F1 0.857</a:t>
            </a:r>
            <a:endParaRPr lang="en-US" sz="1700" dirty="0"/>
          </a:p>
          <a:p>
            <a:pPr algn="l" marL="184404" indent="-184404">
              <a:lnSpc>
                <a:spcPts val="2550"/>
              </a:lnSpc>
              <a:buSzPct val="100000"/>
              <a:buChar char="•"/>
            </a:pPr>
            <a:r>
              <a:rPr lang="en-US" sz="1700" dirty="0">
                <a:solidFill>
                  <a:srgbClr val="000000"/>
                </a:solidFill>
                <a:latin typeface="Arial" pitchFamily="34" charset="0"/>
                <a:ea typeface="Arial" pitchFamily="34" charset="-122"/>
                <a:cs typeface="Arial" pitchFamily="34" charset="-120"/>
              </a:rPr>
              <a:t>It misses 23 of the 95 frauds (24%)</a:t>
            </a:r>
            <a:endParaRPr lang="en-US" sz="1700" dirty="0"/>
          </a:p>
          <a:p>
            <a:pPr algn="l" marL="184404" indent="-184404">
              <a:lnSpc>
                <a:spcPts val="2550"/>
              </a:lnSpc>
              <a:buSzPct val="100000"/>
              <a:buChar char="•"/>
            </a:pPr>
            <a:r>
              <a:rPr lang="en-US" sz="1700" dirty="0">
                <a:solidFill>
                  <a:srgbClr val="000000"/>
                </a:solidFill>
                <a:latin typeface="Arial" pitchFamily="34" charset="0"/>
                <a:ea typeface="Arial" pitchFamily="34" charset="-122"/>
                <a:cs typeface="Arial" pitchFamily="34" charset="-120"/>
              </a:rPr>
              <a:t>Logistic Regression raises about 17 false alarms for every fraud it catches</a:t>
            </a:r>
            <a:endParaRPr lang="en-US" sz="1700" dirty="0"/>
          </a:p>
          <a:p>
            <a:pPr algn="l" marL="184404" indent="-184404">
              <a:lnSpc>
                <a:spcPts val="2550"/>
              </a:lnSpc>
              <a:buSzPct val="100000"/>
              <a:buChar char="•"/>
            </a:pPr>
            <a:r>
              <a:rPr lang="en-US" sz="1700" dirty="0">
                <a:solidFill>
                  <a:srgbClr val="000000"/>
                </a:solidFill>
                <a:latin typeface="Arial" pitchFamily="34" charset="0"/>
                <a:ea typeface="Arial" pitchFamily="34" charset="-122"/>
                <a:cs typeface="Arial" pitchFamily="34" charset="-120"/>
              </a:rPr>
              <a:t>Money saved is not estimated: that needs real fraud losses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00000"/>
                </a:solidFill>
                <a:latin typeface="Arial" pitchFamily="34" charset="0"/>
                <a:ea typeface="Arial" pitchFamily="34" charset="-122"/>
                <a:cs typeface="Arial" pitchFamily="34" charset="-120"/>
              </a:rPr>
              <a:t>5. Demo and Next Steps</a:t>
            </a:r>
            <a:endParaRPr lang="en-US" sz="3000" dirty="0"/>
          </a:p>
        </p:txBody>
      </p:sp>
      <p:sp>
        <p:nvSpPr>
          <p:cNvPr id="3" name="Text 1"/>
          <p:cNvSpPr/>
          <p:nvPr/>
        </p:nvSpPr>
        <p:spPr>
          <a:xfrm>
            <a:off x="812800" y="1231900"/>
            <a:ext cx="625271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00000"/>
                </a:solidFill>
                <a:latin typeface="Arial" pitchFamily="34" charset="0"/>
                <a:ea typeface="Arial" pitchFamily="34" charset="-122"/>
                <a:cs typeface="Arial" pitchFamily="34" charset="-120"/>
              </a:rPr>
              <a:t>Demo</a:t>
            </a:r>
            <a:endParaRPr lang="en-US" sz="2000" dirty="0"/>
          </a:p>
        </p:txBody>
      </p:sp>
      <p:sp>
        <p:nvSpPr>
          <p:cNvPr id="4" name="Text 2"/>
          <p:cNvSpPr/>
          <p:nvPr/>
        </p:nvSpPr>
        <p:spPr>
          <a:xfrm>
            <a:off x="889508" y="1689100"/>
            <a:ext cx="6168390" cy="939800"/>
          </a:xfrm>
          <a:prstGeom prst="rect">
            <a:avLst/>
          </a:prstGeom>
          <a:noFill/>
          <a:ln/>
        </p:spPr>
        <p:txBody>
          <a:bodyPr wrap="square" lIns="0" tIns="0" rIns="0" bIns="0" rtlCol="0" anchor="t">
            <a:normAutofit/>
          </a:bodyPr>
          <a:lstStyle/>
          <a:p>
            <a:pPr algn="l" marL="177292" indent="-177292">
              <a:lnSpc>
                <a:spcPts val="2400"/>
              </a:lnSpc>
              <a:buSzPct val="100000"/>
              <a:buChar char="•"/>
            </a:pPr>
            <a:r>
              <a:rPr lang="en-US" sz="1600" dirty="0">
                <a:solidFill>
                  <a:srgbClr val="000000"/>
                </a:solidFill>
                <a:latin typeface="Arial" pitchFamily="34" charset="0"/>
                <a:ea typeface="Arial" pitchFamily="34" charset="-122"/>
                <a:cs typeface="Arial" pitchFamily="34" charset="-120"/>
              </a:rPr>
              <a:t>Open the notebook and run all cells</a:t>
            </a:r>
            <a:endParaRPr lang="en-US" sz="1600" dirty="0"/>
          </a:p>
          <a:p>
            <a:pPr algn="l" marL="177292" indent="-177292">
              <a:lnSpc>
                <a:spcPts val="2400"/>
              </a:lnSpc>
              <a:buSzPct val="100000"/>
              <a:buChar char="•"/>
            </a:pPr>
            <a:r>
              <a:rPr lang="en-US" sz="1600" dirty="0">
                <a:solidFill>
                  <a:srgbClr val="000000"/>
                </a:solidFill>
                <a:latin typeface="Arial" pitchFamily="34" charset="0"/>
                <a:ea typeface="Arial" pitchFamily="34" charset="-122"/>
                <a:cs typeface="Arial" pitchFamily="34" charset="-120"/>
              </a:rPr>
              <a:t>Go to section 7, “Business impact”</a:t>
            </a:r>
            <a:endParaRPr lang="en-US" sz="1600" dirty="0"/>
          </a:p>
          <a:p>
            <a:pPr algn="l" marL="177292" indent="-177292">
              <a:lnSpc>
                <a:spcPts val="2400"/>
              </a:lnSpc>
              <a:buSzPct val="100000"/>
              <a:buChar char="•"/>
            </a:pPr>
            <a:r>
              <a:rPr lang="en-US" sz="1600" dirty="0">
                <a:solidFill>
                  <a:srgbClr val="000000"/>
                </a:solidFill>
                <a:latin typeface="Arial" pitchFamily="34" charset="0"/>
                <a:ea typeface="Arial" pitchFamily="34" charset="-122"/>
                <a:cs typeface="Arial" pitchFamily="34" charset="-120"/>
              </a:rPr>
              <a:t>Read frauds caught, missed and false alarms</a:t>
            </a:r>
            <a:endParaRPr lang="en-US" sz="1600" dirty="0"/>
          </a:p>
        </p:txBody>
      </p:sp>
      <p:sp>
        <p:nvSpPr>
          <p:cNvPr id="5" name="Text 3"/>
          <p:cNvSpPr/>
          <p:nvPr/>
        </p:nvSpPr>
        <p:spPr>
          <a:xfrm>
            <a:off x="812800" y="2755900"/>
            <a:ext cx="625271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00000"/>
                </a:solidFill>
                <a:latin typeface="Arial" pitchFamily="34" charset="0"/>
                <a:ea typeface="Arial" pitchFamily="34" charset="-122"/>
                <a:cs typeface="Arial" pitchFamily="34" charset="-120"/>
              </a:rPr>
              <a:t>Next steps</a:t>
            </a:r>
            <a:endParaRPr lang="en-US" sz="2000" dirty="0"/>
          </a:p>
        </p:txBody>
      </p:sp>
      <p:sp>
        <p:nvSpPr>
          <p:cNvPr id="6" name="Text 4"/>
          <p:cNvSpPr/>
          <p:nvPr/>
        </p:nvSpPr>
        <p:spPr>
          <a:xfrm>
            <a:off x="889508" y="3213100"/>
            <a:ext cx="6168390" cy="939800"/>
          </a:xfrm>
          <a:prstGeom prst="rect">
            <a:avLst/>
          </a:prstGeom>
          <a:noFill/>
          <a:ln/>
        </p:spPr>
        <p:txBody>
          <a:bodyPr wrap="square" lIns="0" tIns="0" rIns="0" bIns="0" rtlCol="0" anchor="t">
            <a:normAutofit/>
          </a:bodyPr>
          <a:lstStyle/>
          <a:p>
            <a:pPr algn="l" marL="177292" indent="-177292">
              <a:lnSpc>
                <a:spcPts val="2400"/>
              </a:lnSpc>
              <a:buSzPct val="100000"/>
              <a:buChar char="•"/>
            </a:pPr>
            <a:r>
              <a:rPr lang="en-US" sz="1600" dirty="0">
                <a:solidFill>
                  <a:srgbClr val="000000"/>
                </a:solidFill>
                <a:latin typeface="Arial" pitchFamily="34" charset="0"/>
                <a:ea typeface="Arial" pitchFamily="34" charset="-122"/>
                <a:cs typeface="Arial" pitchFamily="34" charset="-120"/>
              </a:rPr>
              <a:t>Set the threshold from real fraud losses</a:t>
            </a:r>
            <a:endParaRPr lang="en-US" sz="1600" dirty="0"/>
          </a:p>
          <a:p>
            <a:pPr algn="l" marL="177292" indent="-177292">
              <a:lnSpc>
                <a:spcPts val="2400"/>
              </a:lnSpc>
              <a:buSzPct val="100000"/>
              <a:buChar char="•"/>
            </a:pPr>
            <a:r>
              <a:rPr lang="en-US" sz="1600" dirty="0">
                <a:solidFill>
                  <a:srgbClr val="000000"/>
                </a:solidFill>
                <a:latin typeface="Arial" pitchFamily="34" charset="0"/>
                <a:ea typeface="Arial" pitchFamily="34" charset="-122"/>
                <a:cs typeface="Arial" pitchFamily="34" charset="-120"/>
              </a:rPr>
              <a:t>Test on future data, not a random split</a:t>
            </a:r>
            <a:endParaRPr lang="en-US" sz="1600" dirty="0"/>
          </a:p>
          <a:p>
            <a:pPr algn="l" marL="177292" indent="-177292">
              <a:lnSpc>
                <a:spcPts val="2400"/>
              </a:lnSpc>
              <a:buSzPct val="100000"/>
              <a:buChar char="•"/>
            </a:pPr>
            <a:r>
              <a:rPr lang="en-US" sz="1600" dirty="0">
                <a:solidFill>
                  <a:srgbClr val="000000"/>
                </a:solidFill>
                <a:latin typeface="Arial" pitchFamily="34" charset="0"/>
                <a:ea typeface="Arial" pitchFamily="34" charset="-122"/>
                <a:cs typeface="Arial" pitchFamily="34" charset="-120"/>
              </a:rPr>
              <a:t>Serve the model with FastAPI</a:t>
            </a:r>
            <a:endParaRPr lang="en-US" sz="1600" dirty="0"/>
          </a:p>
        </p:txBody>
      </p:sp>
      <p:pic>
        <p:nvPicPr>
          <p:cNvPr id="7" name="Image 0" descr="Four confusion matrices comparing the two Logistic Regression models and the two XGBoost results">    </p:cNvPr>
          <p:cNvPicPr>
            <a:picLocks noChangeAspect="1"/>
          </p:cNvPicPr>
          <p:nvPr/>
        </p:nvPicPr>
        <p:blipFill>
          <a:blip r:embed="rId1"/>
          <a:srcRect l="-28" r="-28" t="0" b="0"/>
          <a:stretch/>
        </p:blipFill>
        <p:spPr>
          <a:xfrm>
            <a:off x="7188200" y="1231900"/>
            <a:ext cx="4191000" cy="3981450"/>
          </a:xfrm>
          <a:prstGeom prst="rect">
            <a:avLst/>
          </a:prstGeom>
        </p:spPr>
      </p:pic>
    </p:spTree>
  </p:cSld>
  <p:clrMapOvr>
    <a:masterClrMapping/>
  </p:clrMapOvr>
</p:sld>
</file>

<file path=ppt/theme/theme1.xml><?xml version="1.0" encoding="utf-8"?>
<a:theme xmlns:a="http://schemas.openxmlformats.org/drawingml/2006/main" name="Credit Card Fraud Detection">
  <a:themeElements>
    <a:clrScheme name="Credit Card Fraud Detection">
      <a:dk1>
        <a:srgbClr val="000000"/>
      </a:dk1>
      <a:lt1>
        <a:srgbClr val="FFFFFF"/>
      </a:lt1>
      <a:dk2>
        <a:srgbClr val="404040"/>
      </a:dk2>
      <a:lt2>
        <a:srgbClr val="E6E6E6"/>
      </a:lt2>
      <a:accent1>
        <a:srgbClr val="9AA0A6"/>
      </a:accent1>
      <a:accent2>
        <a:srgbClr val="666666"/>
      </a:accent2>
      <a:accent3>
        <a:srgbClr val="8C8C8C"/>
      </a:accent3>
      <a:accent4>
        <a:srgbClr val="B3B3B3"/>
      </a:accent4>
      <a:accent5>
        <a:srgbClr val="CCCCCC"/>
      </a:accent5>
      <a:accent6>
        <a:srgbClr val="262626"/>
      </a:accent6>
      <a:hlink>
        <a:srgbClr val="0563C1"/>
      </a:hlink>
      <a:folHlink>
        <a:srgbClr val="954F72"/>
      </a:folHlink>
    </a:clrScheme>
    <a:fontScheme name="Credit Card Fraud Detecti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dc:title>
  <dc:subject/>
  <dc:creator/>
  <cp:lastModifiedBy/>
  <cp:revision>1</cp:revision>
  <dcterms:created xsi:type="dcterms:W3CDTF">2026-10-29T08:21:10Z</dcterms:created>
  <dcterms:modified xsi:type="dcterms:W3CDTF">2026-10-29T08:21:10Z</dcterms:modified>
</cp:coreProperties>
</file>