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Mozammel. My capstone project predicts the price of a New York taxi trip before the trip starts. I will explain the problem, the data, the solution, the results and a short demo in about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want a taxi from Times Square to the airport. You would like to know the price in advance. The goal of this project is to build a tool that estimates the fare from the pickup point, the drop-off point and the time. For a manager, this means more transparent prices and better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200,000 real trips from New York, between 2009 and 2015. Real data is messy. Some fares were negative and some locations were impossible, for example a latitude of more than one thousand. After cleaning I kept 191,801 trips. The charts show that most trips are short and cheap, and that the longer the trip, the higher the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built a simple model as a starting point. Then I built a Random Forest, which is like a panel of many small decision trees that vote on the answer. I tuned its settings. The main inputs are trip distance, the time of day and how close the trip is to the airports. To be fair, I tested everything on 38,361 trips that the model had never seen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three models on the unseen test trips. The simple model is off by about 2 dollars 12 on average. The tuned Random Forest is off by about 1 dollar 56. Its RMSE, which punishes big mistakes, is about 22 percent lower. R2 of 0.897 means the model explains about 90 percent of the differences in fares. Average error is the MAE and R2 is the R squared score from my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I type in a trip from Times Square to JFK airport and the model estimates 55 dollars 63. This is the model estimate and I did not compare it with a real fare. The chart on the right shows what the model uses most: trip distance. The main limits are that I have no traffic or weather data, the model overfits a little, and long airport trips are harder. Next I would add traffic and weather, try another model called XGBoost, and deploy it as a small web service.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914400"/>
          </a:xfrm>
          <a:prstGeom prst="rect">
            <a:avLst/>
          </a:prstGeom>
          <a:noFill/>
          <a:ln/>
        </p:spPr>
        <p:txBody>
          <a:bodyPr wrap="square" lIns="0" tIns="0" rIns="0" bIns="0" rtlCol="0" anchor="ctr"/>
          <a:lstStyle/>
          <a:p>
            <a:pPr indent="0" marL="0">
              <a:buNone/>
            </a:pPr>
            <a:r>
              <a:rPr lang="en-US" sz="4000" b="1" dirty="0">
                <a:solidFill>
                  <a:srgbClr val="000000"/>
                </a:solidFill>
                <a:latin typeface="Arial" pitchFamily="34" charset="0"/>
                <a:ea typeface="Arial" pitchFamily="34" charset="-122"/>
                <a:cs typeface="Arial" pitchFamily="34" charset="-120"/>
              </a:rPr>
              <a:t>Uber Fare Estimator</a:t>
            </a:r>
            <a:endParaRPr lang="en-US" sz="4000" dirty="0"/>
          </a:p>
        </p:txBody>
      </p:sp>
      <p:sp>
        <p:nvSpPr>
          <p:cNvPr id="3" name="Text 1"/>
          <p:cNvSpPr txBox="1"/>
          <p:nvPr/>
        </p:nvSpPr>
        <p:spPr>
          <a:xfrm>
            <a:off x="548640" y="2377440"/>
            <a:ext cx="8046720" cy="548640"/>
          </a:xfrm>
          <a:prstGeom prst="rect">
            <a:avLst/>
          </a:prstGeom>
          <a:noFill/>
          <a:ln/>
        </p:spPr>
        <p:txBody>
          <a:bodyPr wrap="square" lIns="0" tIns="0" rIns="0" bIns="0" rtlCol="0" anchor="ctr"/>
          <a:lstStyle/>
          <a:p>
            <a:pPr indent="0" marL="0">
              <a:buNone/>
            </a:pPr>
            <a:r>
              <a:rPr lang="en-US" sz="2000" dirty="0">
                <a:solidFill>
                  <a:srgbClr val="000000"/>
                </a:solidFill>
                <a:latin typeface="Arial" pitchFamily="34" charset="0"/>
                <a:ea typeface="Arial" pitchFamily="34" charset="-122"/>
                <a:cs typeface="Arial" pitchFamily="34" charset="-120"/>
              </a:rPr>
              <a:t>Predicting the price of a taxi trip with machine learning</a:t>
            </a:r>
            <a:endParaRPr lang="en-US" sz="2000" dirty="0"/>
          </a:p>
        </p:txBody>
      </p:sp>
      <p:sp>
        <p:nvSpPr>
          <p:cNvPr id="4" name="Text 2"/>
          <p:cNvSpPr txBox="1"/>
          <p:nvPr/>
        </p:nvSpPr>
        <p:spPr>
          <a:xfrm>
            <a:off x="548640" y="3291840"/>
            <a:ext cx="8046720" cy="822960"/>
          </a:xfrm>
          <a:prstGeom prst="rect">
            <a:avLst/>
          </a:prstGeom>
          <a:noFill/>
          <a:ln/>
        </p:spPr>
        <p:txBody>
          <a:bodyPr wrap="square" lIns="0" tIns="0" rIns="0" bIns="0" rtlCol="0" anchor="ctr"/>
          <a:lstStyle/>
          <a:p>
            <a:pPr indent="0" marL="0">
              <a:buNone/>
            </a:pPr>
            <a:r>
              <a:rPr lang="en-US" sz="1600" dirty="0">
                <a:solidFill>
                  <a:srgbClr val="000000"/>
                </a:solidFill>
                <a:latin typeface="Arial" pitchFamily="34" charset="0"/>
                <a:ea typeface="Arial" pitchFamily="34" charset="-122"/>
                <a:cs typeface="Arial" pitchFamily="34" charset="-120"/>
              </a:rPr>
              <a:t>Machine Learning, Chapter 14 Capstone Project 1</a:t>
            </a:r>
            <a:endParaRPr lang="en-US" sz="1600" dirty="0"/>
          </a:p>
          <a:p>
            <a:pPr indent="0" marL="0">
              <a:buNone/>
            </a:pPr>
            <a:r>
              <a:rPr lang="en-US" sz="1600" dirty="0">
                <a:solidFill>
                  <a:srgbClr val="000000"/>
                </a:solidFill>
                <a:latin typeface="Arial" pitchFamily="34" charset="0"/>
                <a:ea typeface="Arial" pitchFamily="34" charset="-122"/>
                <a:cs typeface="Arial" pitchFamily="34" charset="-120"/>
              </a:rPr>
              <a:t>Mozammel Hoque Sagor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Problem</a:t>
            </a:r>
            <a:endParaRPr lang="en-US" sz="3000" dirty="0"/>
          </a:p>
        </p:txBody>
      </p:sp>
      <p:sp>
        <p:nvSpPr>
          <p:cNvPr id="3" name="Text 1"/>
          <p:cNvSpPr txBox="1"/>
          <p:nvPr/>
        </p:nvSpPr>
        <p:spPr>
          <a:xfrm>
            <a:off x="548640" y="1280160"/>
            <a:ext cx="8046720" cy="32918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Riders and drivers want to know the price before the trip starts.</a:t>
            </a:r>
            <a:endParaRPr lang="en-US" sz="2000" dirty="0"/>
          </a:p>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Goal: estimate the fare from where and when a trip starts and ends.</a:t>
            </a:r>
            <a:endParaRPr lang="en-US" sz="2000" dirty="0"/>
          </a:p>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A good estimate helps with planning and with checking that a price is fair.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Data</a:t>
            </a:r>
            <a:endParaRPr lang="en-US" sz="3000" dirty="0"/>
          </a:p>
        </p:txBody>
      </p:sp>
      <p:sp>
        <p:nvSpPr>
          <p:cNvPr id="3" name="Text 1"/>
          <p:cNvSpPr txBox="1"/>
          <p:nvPr/>
        </p:nvSpPr>
        <p:spPr>
          <a:xfrm>
            <a:off x="548640" y="1280160"/>
            <a:ext cx="393192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200,000 New York trips from 2009 to 2015.</a:t>
            </a:r>
            <a:endParaRPr lang="en-US" sz="1700" dirty="0"/>
          </a:p>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The data was messy: negative fares and impossible locations.</a:t>
            </a:r>
            <a:endParaRPr lang="en-US" sz="1700" dirty="0"/>
          </a:p>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After cleaning, 191,801 trips were kept.</a:t>
            </a:r>
            <a:endParaRPr lang="en-US" sz="1700" dirty="0"/>
          </a:p>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Distance is the biggest driver of the fare.</a:t>
            </a:r>
            <a:endParaRPr lang="en-US" sz="1700" dirty="0"/>
          </a:p>
        </p:txBody>
      </p:sp>
      <p:pic>
        <p:nvPicPr>
          <p:cNvPr id="4" name="Image 0" descr="eda.png">    </p:cNvPr>
          <p:cNvPicPr>
            <a:picLocks noChangeAspect="1"/>
          </p:cNvPicPr>
          <p:nvPr/>
        </p:nvPicPr>
        <p:blipFill>
          <a:blip r:embed="rId1"/>
          <a:stretch>
            <a:fillRect/>
          </a:stretch>
        </p:blipFill>
        <p:spPr>
          <a:xfrm>
            <a:off x="4572000" y="1280160"/>
            <a:ext cx="4114800" cy="28329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Solution</a:t>
            </a:r>
            <a:endParaRPr lang="en-US" sz="3000" dirty="0"/>
          </a:p>
        </p:txBody>
      </p:sp>
      <p:sp>
        <p:nvSpPr>
          <p:cNvPr id="3" name="Text 1"/>
          <p:cNvSpPr txBox="1"/>
          <p:nvPr/>
        </p:nvSpPr>
        <p:spPr>
          <a:xfrm>
            <a:off x="548640" y="1280160"/>
            <a:ext cx="8046720" cy="32918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Step 1: a simple model (Linear Regression) as a starting point.</a:t>
            </a:r>
            <a:endParaRPr lang="en-US" sz="2000" dirty="0"/>
          </a:p>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Step 2: a stronger model (Random Forest), tuned to find good settings.</a:t>
            </a:r>
            <a:endParaRPr lang="en-US" sz="2000" dirty="0"/>
          </a:p>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Main inputs: trip distance, time of day and distance to the three big airports.</a:t>
            </a:r>
            <a:endParaRPr lang="en-US" sz="2000" dirty="0"/>
          </a:p>
          <a:p>
            <a:pPr marL="342900" indent="-342900">
              <a:spcAft>
                <a:spcPts val="1000"/>
              </a:spcAft>
              <a:buSzPct val="100000"/>
              <a:buChar char="•"/>
            </a:pPr>
            <a:r>
              <a:rPr lang="en-US" sz="2000" dirty="0">
                <a:solidFill>
                  <a:srgbClr val="000000"/>
                </a:solidFill>
                <a:latin typeface="Arial" pitchFamily="34" charset="0"/>
                <a:ea typeface="Arial" pitchFamily="34" charset="-122"/>
                <a:cs typeface="Arial" pitchFamily="34" charset="-120"/>
              </a:rPr>
              <a:t>Tested on 38,361 trips the model had never seen.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Business Impact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3291840"/>
                <a:gridCol w="1828800"/>
                <a:gridCol w="1645920"/>
                <a:gridCol w="1280160"/>
              </a:tblGrid>
              <a:tr h="411480">
                <a:tc>
                  <a:txBody>
                    <a:bodyPr/>
                    <a:lstStyle/>
                    <a:p>
                      <a:pPr indent="0" marL="0">
                        <a:buNone/>
                      </a:pPr>
                      <a:r>
                        <a:rPr lang="en-US" sz="1600" b="1" dirty="0">
                          <a:solidFill>
                            <a:srgbClr val="000000"/>
                          </a:solidFill>
                          <a:latin typeface="Arial" pitchFamily="34" charset="0"/>
                          <a:ea typeface="Arial" pitchFamily="34" charset="-122"/>
                          <a:cs typeface="Arial" pitchFamily="34" charset="-120"/>
                        </a:rPr>
                        <a:t>Model</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0" marL="0">
                        <a:buNone/>
                      </a:pPr>
                      <a:r>
                        <a:rPr lang="en-US" sz="1600" b="1" dirty="0">
                          <a:solidFill>
                            <a:srgbClr val="000000"/>
                          </a:solidFill>
                          <a:latin typeface="Arial" pitchFamily="34" charset="0"/>
                          <a:ea typeface="Arial" pitchFamily="34" charset="-122"/>
                          <a:cs typeface="Arial" pitchFamily="34" charset="-120"/>
                        </a:rPr>
                        <a:t>Average error</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0" marL="0">
                        <a:buNone/>
                      </a:pPr>
                      <a:r>
                        <a:rPr lang="en-US" sz="1600" b="1" dirty="0">
                          <a:solidFill>
                            <a:srgbClr val="000000"/>
                          </a:solidFill>
                          <a:latin typeface="Arial" pitchFamily="34" charset="0"/>
                          <a:ea typeface="Arial" pitchFamily="34" charset="-122"/>
                          <a:cs typeface="Arial" pitchFamily="34" charset="-120"/>
                        </a:rPr>
                        <a:t>Test RMSE</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0" marL="0">
                        <a:buNone/>
                      </a:pPr>
                      <a:r>
                        <a:rPr lang="en-US" sz="1600" b="1" dirty="0">
                          <a:solidFill>
                            <a:srgbClr val="000000"/>
                          </a:solidFill>
                          <a:latin typeface="Arial" pitchFamily="34" charset="0"/>
                          <a:ea typeface="Arial" pitchFamily="34" charset="-122"/>
                          <a:cs typeface="Arial" pitchFamily="34" charset="-120"/>
                        </a:rPr>
                        <a:t>R2</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411480">
                <a:tc>
                  <a:txBody>
                    <a:bodyPr/>
                    <a:lstStyle/>
                    <a:p>
                      <a:pPr indent="0" marL="0">
                        <a:buNone/>
                      </a:pPr>
                      <a:r>
                        <a:rPr lang="en-US" sz="1600" dirty="0">
                          <a:solidFill>
                            <a:srgbClr val="000000"/>
                          </a:solidFill>
                          <a:latin typeface="Arial" pitchFamily="34" charset="0"/>
                          <a:ea typeface="Arial" pitchFamily="34" charset="-122"/>
                          <a:cs typeface="Arial" pitchFamily="34" charset="-120"/>
                        </a:rPr>
                        <a:t>Simple model (baseline)</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$2.12</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3.83</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0.831</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1480">
                <a:tc>
                  <a:txBody>
                    <a:bodyPr/>
                    <a:lstStyle/>
                    <a:p>
                      <a:pPr indent="0" marL="0">
                        <a:buNone/>
                      </a:pPr>
                      <a:r>
                        <a:rPr lang="en-US" sz="1600" dirty="0">
                          <a:solidFill>
                            <a:srgbClr val="000000"/>
                          </a:solidFill>
                          <a:latin typeface="Arial" pitchFamily="34" charset="0"/>
                          <a:ea typeface="Arial" pitchFamily="34" charset="-122"/>
                          <a:cs typeface="Arial" pitchFamily="34" charset="-120"/>
                        </a:rPr>
                        <a:t>Random Forest (default)</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$1.63</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3.09</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0.891</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1480">
                <a:tc>
                  <a:txBody>
                    <a:bodyPr/>
                    <a:lstStyle/>
                    <a:p>
                      <a:pPr indent="0" marL="0">
                        <a:buNone/>
                      </a:pPr>
                      <a:r>
                        <a:rPr lang="en-US" sz="1600" b="1" dirty="0">
                          <a:solidFill>
                            <a:srgbClr val="000000"/>
                          </a:solidFill>
                          <a:latin typeface="Arial" pitchFamily="34" charset="0"/>
                          <a:ea typeface="Arial" pitchFamily="34" charset="-122"/>
                          <a:cs typeface="Arial" pitchFamily="34" charset="-120"/>
                        </a:rPr>
                        <a:t>Random Forest (tuned)</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rgbClr val="000000"/>
                          </a:solidFill>
                          <a:latin typeface="Arial" pitchFamily="34" charset="0"/>
                          <a:ea typeface="Arial" pitchFamily="34" charset="-122"/>
                          <a:cs typeface="Arial" pitchFamily="34" charset="-120"/>
                        </a:rPr>
                        <a:t>$1.56</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rgbClr val="000000"/>
                          </a:solidFill>
                          <a:latin typeface="Arial" pitchFamily="34" charset="0"/>
                          <a:ea typeface="Arial" pitchFamily="34" charset="-122"/>
                          <a:cs typeface="Arial" pitchFamily="34" charset="-120"/>
                        </a:rPr>
                        <a:t>2.998</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rgbClr val="000000"/>
                          </a:solidFill>
                          <a:latin typeface="Arial" pitchFamily="34" charset="0"/>
                          <a:ea typeface="Arial" pitchFamily="34" charset="-122"/>
                          <a:cs typeface="Arial" pitchFamily="34" charset="-120"/>
                        </a:rPr>
                        <a:t>0.897</a:t>
                      </a:r>
                      <a:endParaRPr lang="en-US" sz="1600" dirty="0">
                        <a:latin typeface="Arial" charset="0"/>
                        <a:ea typeface="Arial" charset="0"/>
                        <a:cs typeface="Arial" charset="0"/>
                      </a:endParaRPr>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Text 1"/>
          <p:cNvSpPr txBox="1"/>
          <p:nvPr/>
        </p:nvSpPr>
        <p:spPr>
          <a:xfrm>
            <a:off x="548640" y="3108960"/>
            <a:ext cx="8046720" cy="17373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tuned model is off by about $1.56 per trip on average.</a:t>
            </a:r>
            <a:endParaRPr lang="en-US" sz="1800" dirty="0"/>
          </a:p>
          <a:p>
            <a:pPr marL="342900" indent="-3429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Its error (RMSE) is about 22% lower than the simple model.</a:t>
            </a:r>
            <a:endParaRPr lang="en-US" sz="1800" dirty="0"/>
          </a:p>
          <a:p>
            <a:pPr marL="342900" indent="-3429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It explains about 90% of the variation in fares (R2 = 0.897).</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Demo and Next Steps</a:t>
            </a:r>
            <a:endParaRPr lang="en-US" sz="3000" dirty="0"/>
          </a:p>
        </p:txBody>
      </p:sp>
      <p:sp>
        <p:nvSpPr>
          <p:cNvPr id="3" name="Text 1"/>
          <p:cNvSpPr txBox="1"/>
          <p:nvPr/>
        </p:nvSpPr>
        <p:spPr>
          <a:xfrm>
            <a:off x="548640" y="1280160"/>
            <a:ext cx="420624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Demo: Times Square to JFK gives an estimate of $55.63.</a:t>
            </a:r>
            <a:endParaRPr lang="en-US" sz="1700" dirty="0"/>
          </a:p>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Limits: no traffic or weather data, some overfitting, long airport trips are harder.</a:t>
            </a:r>
            <a:endParaRPr lang="en-US" sz="1700" dirty="0"/>
          </a:p>
          <a:p>
            <a:pPr marL="342900" indent="-3429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Next: add traffic and weather, try XGBoost, deploy with FastAPI.</a:t>
            </a:r>
            <a:endParaRPr lang="en-US" sz="1700" dirty="0"/>
          </a:p>
        </p:txBody>
      </p:sp>
      <p:pic>
        <p:nvPicPr>
          <p:cNvPr id="4" name="Image 0" descr="importance.png">    </p:cNvPr>
          <p:cNvPicPr>
            <a:picLocks noChangeAspect="1"/>
          </p:cNvPicPr>
          <p:nvPr/>
        </p:nvPicPr>
        <p:blipFill>
          <a:blip r:embed="rId1"/>
          <a:stretch>
            <a:fillRect/>
          </a:stretch>
        </p:blipFill>
        <p:spPr>
          <a:xfrm>
            <a:off x="4937760" y="1280160"/>
            <a:ext cx="3749040" cy="27926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Fare Estimator</dc:title>
  <dc:subject>PptxGenJS Presentation</dc:subject>
  <dc:creator>Mozammel Hoque Sagor</dc:creator>
  <cp:lastModifiedBy>Mozammel Hoque Sagor</cp:lastModifiedBy>
  <cp:revision>1</cp:revision>
  <dcterms:created xsi:type="dcterms:W3CDTF">2026-10-29T10:46:22Z</dcterms:created>
  <dcterms:modified xsi:type="dcterms:W3CDTF">2026-10-29T10:46:22Z</dcterms:modified>
</cp:coreProperties>
</file>